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1110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848EF"/>
          </a:solidFill>
          <a:ln w="12700">
            <a:solidFill>
              <a:srgbClr val="6848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7748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MindNest AI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9281160" y="647395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5D59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CREATED BY SAMBHAV SHAHI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5D5970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5D5970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0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685800" y="-731520"/>
            <a:ext cx="3657600" cy="3657600"/>
          </a:xfrm>
          <a:prstGeom prst="arc">
            <a:avLst/>
          </a:prstGeom>
          <a:solidFill>
            <a:srgbClr val="6848EF">
              <a:alpha val="14000"/>
            </a:srgbClr>
          </a:solidFill>
          <a:ln w="12700">
            <a:solidFill>
              <a:srgbClr val="6848E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4480560"/>
            <a:ext cx="3108960" cy="3108960"/>
          </a:xfrm>
          <a:prstGeom prst="arc">
            <a:avLst/>
          </a:prstGeom>
          <a:solidFill>
            <a:srgbClr val="35BB8B">
              <a:alpha val="8000"/>
            </a:srgbClr>
          </a:solidFill>
          <a:ln w="12700">
            <a:solidFill>
              <a:srgbClr val="35BB8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594360"/>
            <a:ext cx="2029968" cy="292608"/>
          </a:xfrm>
          <a:prstGeom prst="roundRect">
            <a:avLst>
              <a:gd name="adj" fmla="val 50000"/>
            </a:avLst>
          </a:prstGeom>
          <a:solidFill>
            <a:srgbClr val="6848EF"/>
          </a:solidFill>
          <a:ln w="12700">
            <a:solidFill>
              <a:srgbClr val="6848E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03504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8F7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AI-POWERED STUDENT WELLNESS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58368" y="1078992"/>
            <a:ext cx="6675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300" b="1" dirty="0">
                <a:solidFill>
                  <a:srgbClr val="F8F7F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MindNest AI</a:t>
            </a:r>
            <a:endParaRPr lang="en-US" sz="4300" dirty="0"/>
          </a:p>
        </p:txBody>
      </p:sp>
      <p:sp>
        <p:nvSpPr>
          <p:cNvPr id="7" name="Text 5"/>
          <p:cNvSpPr/>
          <p:nvPr/>
        </p:nvSpPr>
        <p:spPr>
          <a:xfrm>
            <a:off x="658368" y="1865376"/>
            <a:ext cx="5669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DEAF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student mental-health signal built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EDEAF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from everyday habits.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58368" y="29718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7A2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Machine learning  •  FastAPI  •  HTML/CSS/JavaScript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" y="58064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8AA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Created by Sambhav Shahi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452360" y="960120"/>
            <a:ext cx="3977640" cy="4800600"/>
          </a:xfrm>
          <a:prstGeom prst="roundRect">
            <a:avLst>
              <a:gd name="adj" fmla="val 3678"/>
            </a:avLst>
          </a:prstGeom>
          <a:solidFill>
            <a:srgbClr val="221D3B"/>
          </a:solidFill>
          <a:ln w="12700">
            <a:solidFill>
              <a:srgbClr val="2E29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99832" y="12984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A7A2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YOUR WELLNESS SIGNAL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0378440" y="1252728"/>
            <a:ext cx="685800" cy="292608"/>
          </a:xfrm>
          <a:prstGeom prst="roundRect">
            <a:avLst>
              <a:gd name="adj" fmla="val 50000"/>
            </a:avLst>
          </a:prstGeom>
          <a:solidFill>
            <a:srgbClr val="35BB8B"/>
          </a:solidFill>
          <a:ln w="12700">
            <a:solidFill>
              <a:srgbClr val="35BB8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78440" y="126187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8F7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READY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799832" y="18288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8F7F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7.4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9582912" y="21488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7A2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/10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818120" y="25420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5B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Strong baseline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90688" y="2788920"/>
            <a:ext cx="3337560" cy="1828800"/>
          </a:xfrm>
          <a:prstGeom prst="arc">
            <a:avLst/>
          </a:prstGeom>
          <a:solidFill>
            <a:srgbClr val="221D3B">
              <a:alpha val="0"/>
            </a:srgbClr>
          </a:solidFill>
          <a:ln w="165100">
            <a:solidFill>
              <a:srgbClr val="2E29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90688" y="2788920"/>
            <a:ext cx="3337560" cy="1828800"/>
          </a:xfrm>
          <a:prstGeom prst="arc">
            <a:avLst/>
          </a:prstGeom>
          <a:solidFill>
            <a:srgbClr val="221D3B">
              <a:alpha val="0"/>
            </a:srgbClr>
          </a:solidFill>
          <a:ln w="165100">
            <a:solidFill>
              <a:srgbClr val="8065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18120" y="4754880"/>
            <a:ext cx="3246120" cy="594360"/>
          </a:xfrm>
          <a:prstGeom prst="roundRect">
            <a:avLst>
              <a:gd name="adj" fmla="val 24615"/>
            </a:avLst>
          </a:prstGeom>
          <a:solidFill>
            <a:srgbClr val="2A2543"/>
          </a:solidFill>
          <a:ln w="12700">
            <a:solidFill>
              <a:srgbClr val="2A254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01000" y="4882896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EDEA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✦  Your daily rhythm looks well supported.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5D5970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transition spd="med">
    <p:fade/>
  </p:transition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0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685800" y="-731520"/>
            <a:ext cx="3657600" cy="3657600"/>
          </a:xfrm>
          <a:prstGeom prst="arc">
            <a:avLst/>
          </a:prstGeom>
          <a:solidFill>
            <a:srgbClr val="8065FF">
              <a:alpha val="14000"/>
            </a:srgbClr>
          </a:solidFill>
          <a:ln w="12700">
            <a:solidFill>
              <a:srgbClr val="8065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4480560"/>
            <a:ext cx="3108960" cy="3108960"/>
          </a:xfrm>
          <a:prstGeom prst="arc">
            <a:avLst/>
          </a:prstGeom>
          <a:solidFill>
            <a:srgbClr val="35BB8B">
              <a:alpha val="8000"/>
            </a:srgbClr>
          </a:solidFill>
          <a:ln w="12700">
            <a:solidFill>
              <a:srgbClr val="35BB8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" y="5303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70" kern="0" dirty="0">
                <a:solidFill>
                  <a:srgbClr val="B8AA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  •  ABOUT THE PRESENTER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21792" y="868680"/>
            <a:ext cx="10698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8F7F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Sambhav Shahi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1408176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7A2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Student • Aspiring AI/ML Developer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58368" y="2057400"/>
            <a:ext cx="6629400" cy="3063240"/>
          </a:xfrm>
          <a:prstGeom prst="roundRect">
            <a:avLst>
              <a:gd name="adj" fmla="val 4776"/>
            </a:avLst>
          </a:prstGeom>
          <a:solidFill>
            <a:srgbClr val="19162D"/>
          </a:solidFill>
          <a:ln w="12700">
            <a:solidFill>
              <a:srgbClr val="2E29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" y="2331720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6848EF"/>
          </a:solidFill>
          <a:ln w="12700">
            <a:solidFill>
              <a:srgbClr val="6848E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234086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8F7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ABOUT ME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96112" y="2788920"/>
            <a:ext cx="5760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F7F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 enjoy building practical projects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8F7F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that turn machine learning concepts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8F7F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into working applications.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96112" y="41605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20" kern="0" dirty="0">
                <a:solidFill>
                  <a:srgbClr val="B8AA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Interests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783080" y="409651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DEA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Python  •  Machine Learning  •  Data Science  •  AI  •  Web Development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543800" y="2057400"/>
            <a:ext cx="3977640" cy="3063240"/>
          </a:xfrm>
          <a:prstGeom prst="roundRect">
            <a:avLst>
              <a:gd name="adj" fmla="val 4776"/>
            </a:avLst>
          </a:prstGeom>
          <a:solidFill>
            <a:srgbClr val="221D3B"/>
          </a:solidFill>
          <a:ln w="12700">
            <a:solidFill>
              <a:srgbClr val="2E29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18120" y="2331720"/>
            <a:ext cx="1508760" cy="292608"/>
          </a:xfrm>
          <a:prstGeom prst="roundRect">
            <a:avLst>
              <a:gd name="adj" fmla="val 50000"/>
            </a:avLst>
          </a:prstGeom>
          <a:solidFill>
            <a:srgbClr val="35BB8B"/>
          </a:solidFill>
          <a:ln w="12700">
            <a:solidFill>
              <a:srgbClr val="35BB8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18120" y="234086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8F7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MY ROLE IN MINDEST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827264" y="2907792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5B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165592" y="2871216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EDEA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Prepared and explored the dataset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827264" y="3374136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5B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165592" y="333756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EDEA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Compared and evaluated ML models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827264" y="3840480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5B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165592" y="3803904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EDEA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Selected and deployed Extra Trees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827264" y="4306824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5B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165592" y="427024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EDEA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Built the FastAPI + frontend integration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58368" y="5440680"/>
            <a:ext cx="10863072" cy="484632"/>
          </a:xfrm>
          <a:prstGeom prst="roundRect">
            <a:avLst>
              <a:gd name="adj" fmla="val 30189"/>
            </a:avLst>
          </a:prstGeom>
          <a:solidFill>
            <a:srgbClr val="17142B"/>
          </a:solidFill>
          <a:ln w="12700">
            <a:solidFill>
              <a:srgbClr val="2E29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5577840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8AA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Project focus: learn the full ML lifecycle — data → model → API → product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5D5970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transition spd="med">
    <p:fade/>
  </p:transition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0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685800" y="-731520"/>
            <a:ext cx="3657600" cy="3657600"/>
          </a:xfrm>
          <a:prstGeom prst="arc">
            <a:avLst/>
          </a:prstGeom>
          <a:solidFill>
            <a:srgbClr val="8065FF">
              <a:alpha val="14000"/>
            </a:srgbClr>
          </a:solidFill>
          <a:ln w="12700">
            <a:solidFill>
              <a:srgbClr val="8065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4480560"/>
            <a:ext cx="3108960" cy="3108960"/>
          </a:xfrm>
          <a:prstGeom prst="arc">
            <a:avLst/>
          </a:prstGeom>
          <a:solidFill>
            <a:srgbClr val="35BB8B">
              <a:alpha val="8000"/>
            </a:srgbClr>
          </a:solidFill>
          <a:ln w="12700">
            <a:solidFill>
              <a:srgbClr val="35BB8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" y="5303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70" kern="0" dirty="0">
                <a:solidFill>
                  <a:srgbClr val="B8AA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  •  THE PROBLEM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21792" y="868680"/>
            <a:ext cx="10698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8F7F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Why MindNest exists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1408176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7A2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project turns everyday student habits into a simple model-based signal.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58368" y="2057400"/>
            <a:ext cx="3401568" cy="1828800"/>
          </a:xfrm>
          <a:prstGeom prst="roundRect">
            <a:avLst>
              <a:gd name="adj" fmla="val 8000"/>
            </a:avLst>
          </a:prstGeom>
          <a:solidFill>
            <a:srgbClr val="19162D"/>
          </a:solidFill>
          <a:ln w="12700">
            <a:solidFill>
              <a:srgbClr val="2E29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" y="2286000"/>
            <a:ext cx="1508760" cy="292608"/>
          </a:xfrm>
          <a:prstGeom prst="roundRect">
            <a:avLst>
              <a:gd name="adj" fmla="val 50000"/>
            </a:avLst>
          </a:prstGeom>
          <a:solidFill>
            <a:srgbClr val="6848EF"/>
          </a:solidFill>
          <a:ln w="12700">
            <a:solidFill>
              <a:srgbClr val="6848E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229514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8F7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SCREEN + PHONE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77824" y="2724912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DEA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Screen time and daily unlocks can capture digital intensity.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53128" y="2057400"/>
            <a:ext cx="3401568" cy="1828800"/>
          </a:xfrm>
          <a:prstGeom prst="roundRect">
            <a:avLst>
              <a:gd name="adj" fmla="val 8000"/>
            </a:avLst>
          </a:prstGeom>
          <a:solidFill>
            <a:srgbClr val="19162D"/>
          </a:solidFill>
          <a:ln w="12700">
            <a:solidFill>
              <a:srgbClr val="2E29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72584" y="2286000"/>
            <a:ext cx="1508760" cy="292608"/>
          </a:xfrm>
          <a:prstGeom prst="roundRect">
            <a:avLst>
              <a:gd name="adj" fmla="val 50000"/>
            </a:avLst>
          </a:prstGeom>
          <a:solidFill>
            <a:srgbClr val="35BB8B"/>
          </a:solidFill>
          <a:ln w="12700">
            <a:solidFill>
              <a:srgbClr val="35BB8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72584" y="229514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8F7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SLEEP + ACTIVITY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672584" y="2724912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DEA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Sleep and physical activity describe everyday recovery patterns.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47888" y="2057400"/>
            <a:ext cx="3401568" cy="1828800"/>
          </a:xfrm>
          <a:prstGeom prst="roundRect">
            <a:avLst>
              <a:gd name="adj" fmla="val 8000"/>
            </a:avLst>
          </a:prstGeom>
          <a:solidFill>
            <a:srgbClr val="19162D"/>
          </a:solidFill>
          <a:ln w="12700">
            <a:solidFill>
              <a:srgbClr val="2E29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67344" y="2286000"/>
            <a:ext cx="1508760" cy="292608"/>
          </a:xfrm>
          <a:prstGeom prst="roundRect">
            <a:avLst>
              <a:gd name="adj" fmla="val 50000"/>
            </a:avLst>
          </a:prstGeom>
          <a:solidFill>
            <a:srgbClr val="FF9D58"/>
          </a:solidFill>
          <a:ln w="12700">
            <a:solidFill>
              <a:srgbClr val="FF9D5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67344" y="229514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8F7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STUDY + STRESS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467344" y="2724912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DEA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Study routine and perceived stress add academic context.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58368" y="4270248"/>
            <a:ext cx="10972800" cy="1115568"/>
          </a:xfrm>
          <a:prstGeom prst="roundRect">
            <a:avLst>
              <a:gd name="adj" fmla="val 13115"/>
            </a:avLst>
          </a:prstGeom>
          <a:solidFill>
            <a:srgbClr val="18142C"/>
          </a:solidFill>
          <a:ln w="12700">
            <a:solidFill>
              <a:srgbClr val="2E29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" y="454456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40" kern="0" dirty="0">
                <a:solidFill>
                  <a:srgbClr val="B8AA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OBJECTIVE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993392" y="4471416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7F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Build an end-to-end ML application that is easy for a student to use and easy to explain.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5D5970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transition spd="med">
    <p:fade/>
  </p:transition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0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685800" y="-731520"/>
            <a:ext cx="3657600" cy="3657600"/>
          </a:xfrm>
          <a:prstGeom prst="arc">
            <a:avLst/>
          </a:prstGeom>
          <a:solidFill>
            <a:srgbClr val="6848EF">
              <a:alpha val="14000"/>
            </a:srgbClr>
          </a:solidFill>
          <a:ln w="12700">
            <a:solidFill>
              <a:srgbClr val="6848E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4480560"/>
            <a:ext cx="3108960" cy="3108960"/>
          </a:xfrm>
          <a:prstGeom prst="arc">
            <a:avLst/>
          </a:prstGeom>
          <a:solidFill>
            <a:srgbClr val="35BB8B">
              <a:alpha val="8000"/>
            </a:srgbClr>
          </a:solidFill>
          <a:ln w="12700">
            <a:solidFill>
              <a:srgbClr val="35BB8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" y="5303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70" kern="0" dirty="0">
                <a:solidFill>
                  <a:srgbClr val="B8AA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04  •  SYSTEM ARCHITECTURE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21792" y="868680"/>
            <a:ext cx="10698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8F7F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From browser input to prediction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1408176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7A2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 layer has one clear responsibility.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4360" y="2423160"/>
            <a:ext cx="1874520" cy="1417320"/>
          </a:xfrm>
          <a:prstGeom prst="roundRect">
            <a:avLst>
              <a:gd name="adj" fmla="val 10323"/>
            </a:avLst>
          </a:prstGeom>
          <a:solidFill>
            <a:srgbClr val="19162D"/>
          </a:solidFill>
          <a:ln w="12700">
            <a:solidFill>
              <a:srgbClr val="2E29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2606040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848E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24712" y="257860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8F7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WEB UI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58952" y="3044952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7A2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Landing page + assessment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532888" y="285292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AA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862072" y="2423160"/>
            <a:ext cx="1874520" cy="1417320"/>
          </a:xfrm>
          <a:prstGeom prst="roundRect">
            <a:avLst>
              <a:gd name="adj" fmla="val 10323"/>
            </a:avLst>
          </a:prstGeom>
          <a:solidFill>
            <a:srgbClr val="19162D"/>
          </a:solidFill>
          <a:ln w="12700">
            <a:solidFill>
              <a:srgbClr val="2E29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26664" y="2606040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065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92424" y="257860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8F7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FRONTEND JS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026664" y="3044952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7A2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Validate + build JSON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00600" y="285292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AA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129784" y="2423160"/>
            <a:ext cx="1874520" cy="1417320"/>
          </a:xfrm>
          <a:prstGeom prst="roundRect">
            <a:avLst>
              <a:gd name="adj" fmla="val 10323"/>
            </a:avLst>
          </a:prstGeom>
          <a:solidFill>
            <a:srgbClr val="19162D"/>
          </a:solidFill>
          <a:ln w="12700">
            <a:solidFill>
              <a:srgbClr val="2E29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94376" y="2606040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5BB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0136" y="257860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8F7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FASTAPI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294376" y="3044952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7A2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Receive /predict request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068312" y="285292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AA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397496" y="2423160"/>
            <a:ext cx="1874520" cy="1417320"/>
          </a:xfrm>
          <a:prstGeom prst="roundRect">
            <a:avLst>
              <a:gd name="adj" fmla="val 10323"/>
            </a:avLst>
          </a:prstGeom>
          <a:solidFill>
            <a:srgbClr val="19162D"/>
          </a:solidFill>
          <a:ln w="12700">
            <a:solidFill>
              <a:srgbClr val="2E29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62088" y="2606040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9D5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927848" y="257860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8F7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562088" y="3044952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7A2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Preprocess + Extra Trees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336024" y="285292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8AA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665208" y="2423160"/>
            <a:ext cx="1874520" cy="1417320"/>
          </a:xfrm>
          <a:prstGeom prst="roundRect">
            <a:avLst>
              <a:gd name="adj" fmla="val 10323"/>
            </a:avLst>
          </a:prstGeom>
          <a:solidFill>
            <a:srgbClr val="19162D"/>
          </a:solidFill>
          <a:ln w="12700">
            <a:solidFill>
              <a:srgbClr val="2E29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829800" y="2606040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D5B6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195560" y="257860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8F7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RESULT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829800" y="3044952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7A2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Score + interpretation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22960" y="4343400"/>
            <a:ext cx="10561320" cy="914400"/>
          </a:xfrm>
          <a:prstGeom prst="roundRect">
            <a:avLst>
              <a:gd name="adj" fmla="val 16000"/>
            </a:avLst>
          </a:prstGeom>
          <a:solidFill>
            <a:srgbClr val="221D3B"/>
          </a:solidFill>
          <a:ln w="12700">
            <a:solidFill>
              <a:srgbClr val="2E29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78992" y="457200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20" kern="0" dirty="0">
                <a:solidFill>
                  <a:srgbClr val="B8AA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contract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057400" y="450799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7F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POST /predict  →  predicted_mental_health_score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5D5970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transition spd="med">
    <p:fade/>
  </p:transition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0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685800" y="-731520"/>
            <a:ext cx="3657600" cy="3657600"/>
          </a:xfrm>
          <a:prstGeom prst="arc">
            <a:avLst/>
          </a:prstGeom>
          <a:solidFill>
            <a:srgbClr val="6848EF">
              <a:alpha val="14000"/>
            </a:srgbClr>
          </a:solidFill>
          <a:ln w="12700">
            <a:solidFill>
              <a:srgbClr val="6848E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4480560"/>
            <a:ext cx="3108960" cy="3108960"/>
          </a:xfrm>
          <a:prstGeom prst="arc">
            <a:avLst/>
          </a:prstGeom>
          <a:solidFill>
            <a:srgbClr val="35BB8B">
              <a:alpha val="8000"/>
            </a:srgbClr>
          </a:solidFill>
          <a:ln w="12700">
            <a:solidFill>
              <a:srgbClr val="35BB8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" y="5303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70" kern="0" dirty="0">
                <a:solidFill>
                  <a:srgbClr val="B8AA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05  •  DATASET + EDA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21792" y="868680"/>
            <a:ext cx="10698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8F7F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Understanding the data before modeling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1408176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7A2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notebook checks structure, quality, distributions, and relationships.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58368" y="2103120"/>
            <a:ext cx="2331720" cy="1097280"/>
          </a:xfrm>
          <a:prstGeom prst="roundRect">
            <a:avLst>
              <a:gd name="adj" fmla="val 13333"/>
            </a:avLst>
          </a:prstGeom>
          <a:solidFill>
            <a:srgbClr val="19162D"/>
          </a:solidFill>
          <a:ln w="12700">
            <a:solidFill>
              <a:srgbClr val="2E29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35915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8F7F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5,000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822960" y="27889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7A2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rows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55848" y="2103120"/>
            <a:ext cx="2331720" cy="1097280"/>
          </a:xfrm>
          <a:prstGeom prst="roundRect">
            <a:avLst>
              <a:gd name="adj" fmla="val 13333"/>
            </a:avLst>
          </a:prstGeom>
          <a:solidFill>
            <a:srgbClr val="19162D"/>
          </a:solidFill>
          <a:ln w="12700">
            <a:solidFill>
              <a:srgbClr val="2E29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235915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8F7F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13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3520440" y="27889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7A2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columns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53328" y="2103120"/>
            <a:ext cx="2331720" cy="1097280"/>
          </a:xfrm>
          <a:prstGeom prst="roundRect">
            <a:avLst>
              <a:gd name="adj" fmla="val 13333"/>
            </a:avLst>
          </a:prstGeom>
          <a:solidFill>
            <a:srgbClr val="19162D"/>
          </a:solidFill>
          <a:ln w="12700">
            <a:solidFill>
              <a:srgbClr val="2E29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235915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8F7F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3.6–9.4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6217920" y="27889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7A2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target range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750808" y="2103120"/>
            <a:ext cx="2331720" cy="1097280"/>
          </a:xfrm>
          <a:prstGeom prst="roundRect">
            <a:avLst>
              <a:gd name="adj" fmla="val 13333"/>
            </a:avLst>
          </a:prstGeom>
          <a:solidFill>
            <a:srgbClr val="19162D"/>
          </a:solidFill>
          <a:ln w="12700">
            <a:solidFill>
              <a:srgbClr val="2E29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15400" y="235915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8F7F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6.23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8915400" y="27889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7A2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target mean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58368" y="36576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30" kern="0" dirty="0">
                <a:solidFill>
                  <a:srgbClr val="B8AA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EDA CHECKLIST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49808" y="405079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8065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24128" y="4005072"/>
            <a:ext cx="4480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EDEA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Missing values → none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9808" y="443484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8065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24128" y="4389120"/>
            <a:ext cx="4480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EDEA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Duplicates → 2 found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9808" y="481888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8065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24128" y="4773168"/>
            <a:ext cx="4480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EDEA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Numeric distributions → describe()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49808" y="5202936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8065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24128" y="5157216"/>
            <a:ext cx="4480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EDEA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Relationships → target, stress, screen time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035040" y="3657600"/>
            <a:ext cx="5440680" cy="1719072"/>
          </a:xfrm>
          <a:prstGeom prst="roundRect">
            <a:avLst>
              <a:gd name="adj" fmla="val 8511"/>
            </a:avLst>
          </a:prstGeom>
          <a:solidFill>
            <a:srgbClr val="19162D"/>
          </a:solidFill>
          <a:ln w="12700">
            <a:solidFill>
              <a:srgbClr val="2E29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91072" y="38862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A7A2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the model should learn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291072" y="43159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DEA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More screen time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229600" y="431596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5B6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↓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641080" y="43159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DEA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Score tendency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91072" y="4736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DEA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More sleep / activity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229600" y="473659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5B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↑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641080" y="4736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DEA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Score tendency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5D5970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transition spd="med">
    <p:fade/>
  </p:transition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0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685800" y="-731520"/>
            <a:ext cx="3657600" cy="3657600"/>
          </a:xfrm>
          <a:prstGeom prst="arc">
            <a:avLst/>
          </a:prstGeom>
          <a:solidFill>
            <a:srgbClr val="6848EF">
              <a:alpha val="14000"/>
            </a:srgbClr>
          </a:solidFill>
          <a:ln w="12700">
            <a:solidFill>
              <a:srgbClr val="6848E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4480560"/>
            <a:ext cx="3108960" cy="3108960"/>
          </a:xfrm>
          <a:prstGeom prst="arc">
            <a:avLst/>
          </a:prstGeom>
          <a:solidFill>
            <a:srgbClr val="35BB8B">
              <a:alpha val="8000"/>
            </a:srgbClr>
          </a:solidFill>
          <a:ln w="12700">
            <a:solidFill>
              <a:srgbClr val="35BB8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" y="5303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70" kern="0" dirty="0">
                <a:solidFill>
                  <a:srgbClr val="B8AA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06  •  PREPROCESSING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21792" y="868680"/>
            <a:ext cx="10698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8F7F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Different data types need different transformations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1408176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7A2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preprocessing is packaged with the model so inference uses the same rules.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58368" y="2011680"/>
            <a:ext cx="10881360" cy="731520"/>
          </a:xfrm>
          <a:prstGeom prst="roundRect">
            <a:avLst>
              <a:gd name="adj" fmla="val 20000"/>
            </a:avLst>
          </a:prstGeom>
          <a:solidFill>
            <a:srgbClr val="19162D"/>
          </a:solidFill>
          <a:ln w="12700">
            <a:solidFill>
              <a:srgbClr val="2E29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2212848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FF9D58"/>
          </a:solidFill>
          <a:ln w="12700">
            <a:solidFill>
              <a:srgbClr val="FF9D5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22199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8F7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SKEWED NUMERIC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542032" y="2176272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8F7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Study_Hours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0" y="217627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A7A2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log1p → StandardScaler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58368" y="2944368"/>
            <a:ext cx="10881360" cy="731520"/>
          </a:xfrm>
          <a:prstGeom prst="roundRect">
            <a:avLst>
              <a:gd name="adj" fmla="val 20000"/>
            </a:avLst>
          </a:prstGeom>
          <a:solidFill>
            <a:srgbClr val="19162D"/>
          </a:solidFill>
          <a:ln w="12700">
            <a:solidFill>
              <a:srgbClr val="2E29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3145536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6848EF"/>
          </a:solidFill>
          <a:ln w="12700">
            <a:solidFill>
              <a:srgbClr val="6848E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1546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8F7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NUMERIC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542032" y="3108960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8F7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Age, screen time, unlocks, activity, sleep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0" y="310896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A7A2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StandardScaler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58368" y="3877056"/>
            <a:ext cx="10881360" cy="731520"/>
          </a:xfrm>
          <a:prstGeom prst="roundRect">
            <a:avLst>
              <a:gd name="adj" fmla="val 20000"/>
            </a:avLst>
          </a:prstGeom>
          <a:solidFill>
            <a:srgbClr val="19162D"/>
          </a:solidFill>
          <a:ln w="12700">
            <a:solidFill>
              <a:srgbClr val="2E29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" y="4078224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35BB8B"/>
          </a:solidFill>
          <a:ln w="12700">
            <a:solidFill>
              <a:srgbClr val="35BB8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40873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8F7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ORDINAL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542032" y="4041648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8F7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Stress_Level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69280" y="404164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A7A2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Low → 0 … Very High → 3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58368" y="4809744"/>
            <a:ext cx="10881360" cy="731520"/>
          </a:xfrm>
          <a:prstGeom prst="roundRect">
            <a:avLst>
              <a:gd name="adj" fmla="val 20000"/>
            </a:avLst>
          </a:prstGeom>
          <a:solidFill>
            <a:srgbClr val="19162D"/>
          </a:solidFill>
          <a:ln w="12700">
            <a:solidFill>
              <a:srgbClr val="2E294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8680" y="5010912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8065FF"/>
          </a:solidFill>
          <a:ln w="12700">
            <a:solidFill>
              <a:srgbClr val="8065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502005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8F7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CATEGORICAL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542032" y="4974336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8F7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Gender, level, platform, purpose, country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69280" y="4974336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A7A2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OneHotEncoder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58368" y="5870448"/>
            <a:ext cx="10881360" cy="384048"/>
          </a:xfrm>
          <a:prstGeom prst="roundRect">
            <a:avLst>
              <a:gd name="adj" fmla="val 38095"/>
            </a:avLst>
          </a:prstGeom>
          <a:solidFill>
            <a:srgbClr val="17142B"/>
          </a:solidFill>
          <a:ln w="12700">
            <a:solidFill>
              <a:srgbClr val="17142B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2688" y="5943600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8AA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ColumnTransformer  +  Pipeline  =  consistent preprocessing during training and prediction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5D5970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transition spd="med">
    <p:fade/>
  </p:transition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0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685800" y="-731520"/>
            <a:ext cx="3657600" cy="3657600"/>
          </a:xfrm>
          <a:prstGeom prst="arc">
            <a:avLst/>
          </a:prstGeom>
          <a:solidFill>
            <a:srgbClr val="6848EF">
              <a:alpha val="14000"/>
            </a:srgbClr>
          </a:solidFill>
          <a:ln w="12700">
            <a:solidFill>
              <a:srgbClr val="6848E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4480560"/>
            <a:ext cx="3108960" cy="3108960"/>
          </a:xfrm>
          <a:prstGeom prst="arc">
            <a:avLst/>
          </a:prstGeom>
          <a:solidFill>
            <a:srgbClr val="35BB8B">
              <a:alpha val="8000"/>
            </a:srgbClr>
          </a:solidFill>
          <a:ln w="12700">
            <a:solidFill>
              <a:srgbClr val="35BB8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" y="5303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70" kern="0" dirty="0">
                <a:solidFill>
                  <a:srgbClr val="B8AA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07  •  MODEL COMPARISON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21792" y="868680"/>
            <a:ext cx="10698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8F7F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Three regression approaches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1408176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7A2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 candidates were evaluated on the same held-out test set.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13232" y="20574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8F7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Linear Regression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34640" y="2066544"/>
            <a:ext cx="6217920" cy="292608"/>
          </a:xfrm>
          <a:prstGeom prst="roundRect">
            <a:avLst>
              <a:gd name="adj" fmla="val 50000"/>
            </a:avLst>
          </a:prstGeom>
          <a:solidFill>
            <a:srgbClr val="28233D"/>
          </a:solidFill>
          <a:ln w="12700">
            <a:solidFill>
              <a:srgbClr val="28233D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34640" y="2066544"/>
            <a:ext cx="4601261" cy="292608"/>
          </a:xfrm>
          <a:prstGeom prst="roundRect">
            <a:avLst>
              <a:gd name="adj" fmla="val 50000"/>
            </a:avLst>
          </a:prstGeom>
          <a:solidFill>
            <a:srgbClr val="77748A"/>
          </a:solidFill>
          <a:ln w="12700">
            <a:solidFill>
              <a:srgbClr val="77748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0" y="203911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8F7F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0.740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13232" y="31363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8F7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834640" y="3145536"/>
            <a:ext cx="6217920" cy="292608"/>
          </a:xfrm>
          <a:prstGeom prst="roundRect">
            <a:avLst>
              <a:gd name="adj" fmla="val 50000"/>
            </a:avLst>
          </a:prstGeom>
          <a:solidFill>
            <a:srgbClr val="28233D"/>
          </a:solidFill>
          <a:ln w="12700">
            <a:solidFill>
              <a:srgbClr val="28233D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34640" y="3145536"/>
            <a:ext cx="5459334" cy="292608"/>
          </a:xfrm>
          <a:prstGeom prst="roundRect">
            <a:avLst>
              <a:gd name="adj" fmla="val 50000"/>
            </a:avLst>
          </a:prstGeom>
          <a:solidFill>
            <a:srgbClr val="8065FF"/>
          </a:solidFill>
          <a:ln w="12700">
            <a:solidFill>
              <a:srgbClr val="8065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0" y="311810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8F7F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0.878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13232" y="42153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8F7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Extra Trees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834640" y="4224528"/>
            <a:ext cx="6217920" cy="292608"/>
          </a:xfrm>
          <a:prstGeom prst="roundRect">
            <a:avLst>
              <a:gd name="adj" fmla="val 50000"/>
            </a:avLst>
          </a:prstGeom>
          <a:solidFill>
            <a:srgbClr val="28233D"/>
          </a:solidFill>
          <a:ln w="12700">
            <a:solidFill>
              <a:srgbClr val="28233D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34640" y="4224528"/>
            <a:ext cx="5683179" cy="292608"/>
          </a:xfrm>
          <a:prstGeom prst="roundRect">
            <a:avLst>
              <a:gd name="adj" fmla="val 50000"/>
            </a:avLst>
          </a:prstGeom>
          <a:solidFill>
            <a:srgbClr val="35BB8B"/>
          </a:solidFill>
          <a:ln w="12700">
            <a:solidFill>
              <a:srgbClr val="35BB8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0" y="419709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8F7F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0.914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13232" y="17647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20" kern="0" dirty="0">
                <a:solidFill>
                  <a:srgbClr val="A7A2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R² on test set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13232" y="5349240"/>
            <a:ext cx="10469880" cy="594360"/>
          </a:xfrm>
          <a:prstGeom prst="roundRect">
            <a:avLst>
              <a:gd name="adj" fmla="val 24615"/>
            </a:avLst>
          </a:prstGeom>
          <a:solidFill>
            <a:srgbClr val="221D3B"/>
          </a:solidFill>
          <a:ln w="12700">
            <a:solidFill>
              <a:srgbClr val="2E29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550468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5BB8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Winner: Extra Trees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926080" y="5532120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EDEA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Highest R² + lowest error among the three evaluated models.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5D5970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transition spd="med">
    <p:fade/>
  </p:transition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0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685800" y="-731520"/>
            <a:ext cx="3657600" cy="3657600"/>
          </a:xfrm>
          <a:prstGeom prst="arc">
            <a:avLst/>
          </a:prstGeom>
          <a:solidFill>
            <a:srgbClr val="35BB8B">
              <a:alpha val="14000"/>
            </a:srgbClr>
          </a:solidFill>
          <a:ln w="12700">
            <a:solidFill>
              <a:srgbClr val="35BB8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4480560"/>
            <a:ext cx="3108960" cy="3108960"/>
          </a:xfrm>
          <a:prstGeom prst="arc">
            <a:avLst/>
          </a:prstGeom>
          <a:solidFill>
            <a:srgbClr val="35BB8B">
              <a:alpha val="8000"/>
            </a:srgbClr>
          </a:solidFill>
          <a:ln w="12700">
            <a:solidFill>
              <a:srgbClr val="35BB8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" y="5303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70" kern="0" dirty="0">
                <a:solidFill>
                  <a:srgbClr val="B8AA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08  •  VALIDATION + MODEL CHOICE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21792" y="868680"/>
            <a:ext cx="10698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8F7F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Why Extra Trees?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1408176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7A2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First compare models; then check that the winner is stable across folds.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86384" y="2240280"/>
            <a:ext cx="1600200" cy="1280160"/>
          </a:xfrm>
          <a:prstGeom prst="roundRect">
            <a:avLst>
              <a:gd name="adj" fmla="val 11429"/>
            </a:avLst>
          </a:prstGeom>
          <a:solidFill>
            <a:srgbClr val="19162D"/>
          </a:solidFill>
          <a:ln w="12700">
            <a:solidFill>
              <a:srgbClr val="2E29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246888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B8AA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FOLD 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50976" y="281635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F7F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80%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50976" y="318211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7A2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train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450592" y="2743200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5B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907792" y="2240280"/>
            <a:ext cx="1600200" cy="1280160"/>
          </a:xfrm>
          <a:prstGeom prst="roundRect">
            <a:avLst>
              <a:gd name="adj" fmla="val 11429"/>
            </a:avLst>
          </a:prstGeom>
          <a:solidFill>
            <a:srgbClr val="19162D"/>
          </a:solidFill>
          <a:ln w="12700">
            <a:solidFill>
              <a:srgbClr val="2E29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72384" y="246888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B8AA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FOLD 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072384" y="281635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F7F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80%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072384" y="318211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7A2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train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0" y="2743200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5B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029200" y="2240280"/>
            <a:ext cx="1600200" cy="1280160"/>
          </a:xfrm>
          <a:prstGeom prst="roundRect">
            <a:avLst>
              <a:gd name="adj" fmla="val 11429"/>
            </a:avLst>
          </a:prstGeom>
          <a:solidFill>
            <a:srgbClr val="19162D"/>
          </a:solidFill>
          <a:ln w="12700">
            <a:solidFill>
              <a:srgbClr val="2E29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93792" y="246888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B8AA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FOLD 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193792" y="281635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F7F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80%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193792" y="318211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7A2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train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693408" y="2743200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5B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150608" y="2240280"/>
            <a:ext cx="1600200" cy="1280160"/>
          </a:xfrm>
          <a:prstGeom prst="roundRect">
            <a:avLst>
              <a:gd name="adj" fmla="val 11429"/>
            </a:avLst>
          </a:prstGeom>
          <a:solidFill>
            <a:srgbClr val="19162D"/>
          </a:solidFill>
          <a:ln w="12700">
            <a:solidFill>
              <a:srgbClr val="2E29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0" y="246888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B8AA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FOLD 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315200" y="281635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F7F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80%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315200" y="318211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7A2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train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814816" y="2743200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5B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272016" y="2240280"/>
            <a:ext cx="1600200" cy="1280160"/>
          </a:xfrm>
          <a:prstGeom prst="roundRect">
            <a:avLst>
              <a:gd name="adj" fmla="val 11429"/>
            </a:avLst>
          </a:prstGeom>
          <a:solidFill>
            <a:srgbClr val="19162D"/>
          </a:solidFill>
          <a:ln w="12700">
            <a:solidFill>
              <a:srgbClr val="2E29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36608" y="246888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B8AA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FOLD 5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9436608" y="281635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F7F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80%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9436608" y="318211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7A2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train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86384" y="4069080"/>
            <a:ext cx="10469880" cy="1143000"/>
          </a:xfrm>
          <a:prstGeom prst="roundRect">
            <a:avLst>
              <a:gd name="adj" fmla="val 12800"/>
            </a:avLst>
          </a:prstGeom>
          <a:solidFill>
            <a:srgbClr val="221D3B"/>
          </a:solidFill>
          <a:ln w="12700">
            <a:solidFill>
              <a:srgbClr val="2E29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24128" y="432511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20" kern="0" dirty="0">
                <a:solidFill>
                  <a:srgbClr val="A7A2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CROSS-VALIDATION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24128" y="4672584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7F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 folds  •  performance averaged  •  checks generalization stability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144000" y="431596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A7A2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Takeaway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9144000" y="464515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5B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Consistent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5D5970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transition spd="med">
    <p:fade/>
  </p:transition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0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685800" y="-731520"/>
            <a:ext cx="3657600" cy="3657600"/>
          </a:xfrm>
          <a:prstGeom prst="arc">
            <a:avLst/>
          </a:prstGeom>
          <a:solidFill>
            <a:srgbClr val="6848EF">
              <a:alpha val="14000"/>
            </a:srgbClr>
          </a:solidFill>
          <a:ln w="12700">
            <a:solidFill>
              <a:srgbClr val="6848E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4480560"/>
            <a:ext cx="3108960" cy="3108960"/>
          </a:xfrm>
          <a:prstGeom prst="arc">
            <a:avLst/>
          </a:prstGeom>
          <a:solidFill>
            <a:srgbClr val="35BB8B">
              <a:alpha val="8000"/>
            </a:srgbClr>
          </a:solidFill>
          <a:ln w="12700">
            <a:solidFill>
              <a:srgbClr val="35BB8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" y="5303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70" kern="0" dirty="0">
                <a:solidFill>
                  <a:srgbClr val="B8AA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09  •  DEPLOYMENT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21792" y="868680"/>
            <a:ext cx="10698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8F7F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From notebook to a working product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1408176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7A2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final pipeline is serialized and consumed by FastAPI.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31520" y="2148840"/>
            <a:ext cx="3154680" cy="1874520"/>
          </a:xfrm>
          <a:prstGeom prst="roundRect">
            <a:avLst>
              <a:gd name="adj" fmla="val 7805"/>
            </a:avLst>
          </a:prstGeom>
          <a:solidFill>
            <a:srgbClr val="19162D"/>
          </a:solidFill>
          <a:ln w="12700">
            <a:solidFill>
              <a:srgbClr val="2E29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2688" y="2377440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6848EF"/>
          </a:solidFill>
          <a:ln w="12700">
            <a:solidFill>
              <a:srgbClr val="6848E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386584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8F7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TRAIN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32688" y="280720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F7F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StudentMentalHealth.ipynb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32688" y="3273552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7A2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Analyze → preprocess → select model → retrain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005072" y="290779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AA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480560" y="2148840"/>
            <a:ext cx="3154680" cy="1874520"/>
          </a:xfrm>
          <a:prstGeom prst="roundRect">
            <a:avLst>
              <a:gd name="adj" fmla="val 7805"/>
            </a:avLst>
          </a:prstGeom>
          <a:solidFill>
            <a:srgbClr val="19162D"/>
          </a:solidFill>
          <a:ln w="12700">
            <a:solidFill>
              <a:srgbClr val="2E29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81728" y="2377440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8065FF"/>
          </a:solidFill>
          <a:ln w="12700">
            <a:solidFill>
              <a:srgbClr val="8065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81728" y="2386584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8F7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SAVE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681728" y="280720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F7F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mentalHealthModel.pkl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81728" y="3273552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7A2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Serialized Extra Trees pipeline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54112" y="290779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AA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229600" y="2148840"/>
            <a:ext cx="3154680" cy="1874520"/>
          </a:xfrm>
          <a:prstGeom prst="roundRect">
            <a:avLst>
              <a:gd name="adj" fmla="val 7805"/>
            </a:avLst>
          </a:prstGeom>
          <a:solidFill>
            <a:srgbClr val="19162D"/>
          </a:solidFill>
          <a:ln w="12700">
            <a:solidFill>
              <a:srgbClr val="2E29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30768" y="2377440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35BB8B"/>
          </a:solidFill>
          <a:ln w="12700">
            <a:solidFill>
              <a:srgbClr val="35BB8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30768" y="2386584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8F7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SERVE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430768" y="280720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F7F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main.py / FastAPI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430768" y="3273552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7A2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Load model → /predict → return score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" y="4681728"/>
            <a:ext cx="10744200" cy="868680"/>
          </a:xfrm>
          <a:prstGeom prst="roundRect">
            <a:avLst>
              <a:gd name="adj" fmla="val 16842"/>
            </a:avLst>
          </a:prstGeom>
          <a:solidFill>
            <a:srgbClr val="17142B"/>
          </a:solidFill>
          <a:ln w="12700">
            <a:solidFill>
              <a:srgbClr val="2E29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491947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20" kern="0" dirty="0">
                <a:solidFill>
                  <a:srgbClr val="A7A2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LIVE REQUEST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057400" y="4864608"/>
            <a:ext cx="8183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7F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POST /predict   →   predicted_mental_health_score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5D5970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transition spd="med">
    <p:fade/>
  </p:transition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0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685800" y="-731520"/>
            <a:ext cx="3657600" cy="3657600"/>
          </a:xfrm>
          <a:prstGeom prst="arc">
            <a:avLst/>
          </a:prstGeom>
          <a:solidFill>
            <a:srgbClr val="8065FF">
              <a:alpha val="14000"/>
            </a:srgbClr>
          </a:solidFill>
          <a:ln w="12700">
            <a:solidFill>
              <a:srgbClr val="8065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4480560"/>
            <a:ext cx="3108960" cy="3108960"/>
          </a:xfrm>
          <a:prstGeom prst="arc">
            <a:avLst/>
          </a:prstGeom>
          <a:solidFill>
            <a:srgbClr val="35BB8B">
              <a:alpha val="8000"/>
            </a:srgbClr>
          </a:solidFill>
          <a:ln w="12700">
            <a:solidFill>
              <a:srgbClr val="35BB8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" y="5303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70" kern="0" dirty="0">
                <a:solidFill>
                  <a:srgbClr val="B8AA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  •  PRODUCT EXPERIENCE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21792" y="868680"/>
            <a:ext cx="10698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8F7F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Landing page → assessment → result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1408176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7A2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UI was redesigned without changing the prediction contract.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86384" y="2057400"/>
            <a:ext cx="3246120" cy="2971800"/>
          </a:xfrm>
          <a:prstGeom prst="roundRect">
            <a:avLst>
              <a:gd name="adj" fmla="val 4923"/>
            </a:avLst>
          </a:prstGeom>
          <a:solidFill>
            <a:srgbClr val="19162D"/>
          </a:solidFill>
          <a:ln w="12700">
            <a:solidFill>
              <a:srgbClr val="2E29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9264" y="2286000"/>
            <a:ext cx="2880360" cy="411480"/>
          </a:xfrm>
          <a:prstGeom prst="roundRect">
            <a:avLst>
              <a:gd name="adj" fmla="val 35556"/>
            </a:avLst>
          </a:prstGeom>
          <a:solidFill>
            <a:srgbClr val="261F45"/>
          </a:solidFill>
          <a:ln w="12700">
            <a:solidFill>
              <a:srgbClr val="261F4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88136" y="239572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B8AA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LANDING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06424" y="2944368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8F7F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Your everyday habits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F8F7F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tell a story.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1106424" y="4023360"/>
            <a:ext cx="1920240" cy="347472"/>
          </a:xfrm>
          <a:prstGeom prst="roundRect">
            <a:avLst>
              <a:gd name="adj" fmla="val 42105"/>
            </a:avLst>
          </a:prstGeom>
          <a:solidFill>
            <a:srgbClr val="6848EF"/>
          </a:solidFill>
          <a:ln w="12700">
            <a:solidFill>
              <a:srgbClr val="6848E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06424" y="408736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7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Take the assessment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106424" y="45994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7A2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• •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53712" y="2057400"/>
            <a:ext cx="3246120" cy="2971800"/>
          </a:xfrm>
          <a:prstGeom prst="roundRect">
            <a:avLst>
              <a:gd name="adj" fmla="val 4923"/>
            </a:avLst>
          </a:prstGeom>
          <a:solidFill>
            <a:srgbClr val="19162D"/>
          </a:solidFill>
          <a:ln w="12700">
            <a:solidFill>
              <a:srgbClr val="2E29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36592" y="2286000"/>
            <a:ext cx="2880360" cy="411480"/>
          </a:xfrm>
          <a:prstGeom prst="roundRect">
            <a:avLst>
              <a:gd name="adj" fmla="val 35556"/>
            </a:avLst>
          </a:prstGeom>
          <a:solidFill>
            <a:srgbClr val="261F45"/>
          </a:solidFill>
          <a:ln w="12700">
            <a:solidFill>
              <a:srgbClr val="261F45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55464" y="239572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B8AA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ASSESSMENT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873752" y="2944368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8F7F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Clean student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F8F7F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wellness check-in.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4873752" y="4023360"/>
            <a:ext cx="1920240" cy="347472"/>
          </a:xfrm>
          <a:prstGeom prst="roundRect">
            <a:avLst>
              <a:gd name="adj" fmla="val 42105"/>
            </a:avLst>
          </a:prstGeom>
          <a:solidFill>
            <a:srgbClr val="6848EF"/>
          </a:solidFill>
          <a:ln w="12700">
            <a:solidFill>
              <a:srgbClr val="6848E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408736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7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Generate my signal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873752" y="45994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7A2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• •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321040" y="2057400"/>
            <a:ext cx="3246120" cy="2971800"/>
          </a:xfrm>
          <a:prstGeom prst="roundRect">
            <a:avLst>
              <a:gd name="adj" fmla="val 4923"/>
            </a:avLst>
          </a:prstGeom>
          <a:solidFill>
            <a:srgbClr val="19162D"/>
          </a:solidFill>
          <a:ln w="12700">
            <a:solidFill>
              <a:srgbClr val="2E29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03920" y="2286000"/>
            <a:ext cx="2880360" cy="411480"/>
          </a:xfrm>
          <a:prstGeom prst="roundRect">
            <a:avLst>
              <a:gd name="adj" fmla="val 35556"/>
            </a:avLst>
          </a:prstGeom>
          <a:solidFill>
            <a:srgbClr val="261F45"/>
          </a:solidFill>
          <a:ln w="12700">
            <a:solidFill>
              <a:srgbClr val="261F45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22792" y="239572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B8AA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RESULT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641080" y="2944368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8F7F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simple score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F8F7F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with context.</a:t>
            </a:r>
            <a:endParaRPr lang="en-US" sz="1900" dirty="0"/>
          </a:p>
        </p:txBody>
      </p:sp>
      <p:sp>
        <p:nvSpPr>
          <p:cNvPr id="25" name="Shape 23"/>
          <p:cNvSpPr/>
          <p:nvPr/>
        </p:nvSpPr>
        <p:spPr>
          <a:xfrm>
            <a:off x="8641080" y="4023360"/>
            <a:ext cx="1920240" cy="347472"/>
          </a:xfrm>
          <a:prstGeom prst="roundRect">
            <a:avLst>
              <a:gd name="adj" fmla="val 42105"/>
            </a:avLst>
          </a:prstGeom>
          <a:solidFill>
            <a:srgbClr val="6848EF"/>
          </a:solidFill>
          <a:ln w="12700">
            <a:solidFill>
              <a:srgbClr val="6848E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41080" y="408736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8F7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Run another check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641080" y="45994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7A2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• •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04672" y="5367528"/>
            <a:ext cx="10716768" cy="475488"/>
          </a:xfrm>
          <a:prstGeom prst="roundRect">
            <a:avLst>
              <a:gd name="adj" fmla="val 30769"/>
            </a:avLst>
          </a:prstGeom>
          <a:solidFill>
            <a:srgbClr val="221D3B"/>
          </a:solidFill>
          <a:ln w="12700">
            <a:solidFill>
              <a:srgbClr val="2E29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5840" y="5513832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DEA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Fast, calm, responsive, and intentionally non-clinical in its wording.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5D5970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transition spd="med">
    <p:fade/>
  </p:transition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0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685800" y="-731520"/>
            <a:ext cx="3657600" cy="3657600"/>
          </a:xfrm>
          <a:prstGeom prst="arc">
            <a:avLst/>
          </a:prstGeom>
          <a:solidFill>
            <a:srgbClr val="35BB8B">
              <a:alpha val="14000"/>
            </a:srgbClr>
          </a:solidFill>
          <a:ln w="12700">
            <a:solidFill>
              <a:srgbClr val="35BB8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4480560"/>
            <a:ext cx="3108960" cy="3108960"/>
          </a:xfrm>
          <a:prstGeom prst="arc">
            <a:avLst/>
          </a:prstGeom>
          <a:solidFill>
            <a:srgbClr val="35BB8B">
              <a:alpha val="8000"/>
            </a:srgbClr>
          </a:solidFill>
          <a:ln w="12700">
            <a:solidFill>
              <a:srgbClr val="35BB8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" y="5303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70" kern="0" dirty="0">
                <a:solidFill>
                  <a:srgbClr val="B8AA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11  •  LIMITATIONS + NEXT STEPS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21792" y="868680"/>
            <a:ext cx="10698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8F7F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What the project does well—and what comes next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1408176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7A2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good ML project is honest about the boundaries of its predictions.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49808" y="205740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6848EF"/>
          </a:solidFill>
          <a:ln w="12700">
            <a:solidFill>
              <a:srgbClr val="6848E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06654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8F7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DATASET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965960" y="207568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DEA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Training data defines what the model can learn.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49808" y="306324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6848EF"/>
          </a:solidFill>
          <a:ln w="12700">
            <a:solidFill>
              <a:srgbClr val="6848E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307238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8F7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GENERALIZATION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965960" y="308152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DEA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Unusual combinations can be less reliable.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49808" y="406908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ED5B6C"/>
          </a:solidFill>
          <a:ln w="12700">
            <a:solidFill>
              <a:srgbClr val="ED5B6C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407822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8F7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CLINICAL LIMITS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965960" y="408736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DEA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strong R² does not make the tool clinically valid.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37960" y="2057400"/>
            <a:ext cx="4663440" cy="3154680"/>
          </a:xfrm>
          <a:prstGeom prst="roundRect">
            <a:avLst>
              <a:gd name="adj" fmla="val 4638"/>
            </a:avLst>
          </a:prstGeom>
          <a:solidFill>
            <a:srgbClr val="19162D"/>
          </a:solidFill>
          <a:ln w="12700">
            <a:solidFill>
              <a:srgbClr val="2E29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30568" y="23134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30" kern="0" dirty="0">
                <a:solidFill>
                  <a:srgbClr val="35B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NEXT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839712" y="2770632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5B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205472" y="27432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DEA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Keep model + notebook reproducible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839712" y="3300984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5B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205472" y="32735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DEA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Add stronger data validation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839712" y="3831336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5B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205472" y="380390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DEA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Monitor model behavior after deployment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839712" y="436168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5BB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✓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205472" y="43342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DEA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Consider richer / more representative data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49808" y="5468112"/>
            <a:ext cx="10469880" cy="475488"/>
          </a:xfrm>
          <a:prstGeom prst="roundRect">
            <a:avLst>
              <a:gd name="adj" fmla="val 30769"/>
            </a:avLst>
          </a:prstGeom>
          <a:solidFill>
            <a:srgbClr val="221D3B"/>
          </a:solidFill>
          <a:ln w="12700">
            <a:solidFill>
              <a:srgbClr val="2E29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5605272"/>
            <a:ext cx="10058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8AA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MindNest AI  •  Machine learning + FastAPI + frontend  •  Created by Sambhav Shahi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5D5970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transition spd="med">
    <p:fade/>
  </p:transition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0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685800" y="-731520"/>
            <a:ext cx="3657600" cy="3657600"/>
          </a:xfrm>
          <a:prstGeom prst="arc">
            <a:avLst/>
          </a:prstGeom>
          <a:solidFill>
            <a:srgbClr val="6848EF">
              <a:alpha val="14000"/>
            </a:srgbClr>
          </a:solidFill>
          <a:ln w="12700">
            <a:solidFill>
              <a:srgbClr val="6848E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4480560"/>
            <a:ext cx="3108960" cy="3108960"/>
          </a:xfrm>
          <a:prstGeom prst="arc">
            <a:avLst/>
          </a:prstGeom>
          <a:solidFill>
            <a:srgbClr val="35BB8B">
              <a:alpha val="8000"/>
            </a:srgbClr>
          </a:solidFill>
          <a:ln w="12700">
            <a:solidFill>
              <a:srgbClr val="35BB8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58368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8065FF"/>
          </a:solidFill>
          <a:ln w="12700">
            <a:solidFill>
              <a:srgbClr val="8065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6751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8F7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MINDNEST AI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58368" y="141732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8F7F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Thank You.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58368" y="214884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B8AA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Questions?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658368" y="2907792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EDEA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student wellness project built from data science,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DEA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machine learning, FastAPI, and frontend development.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269480" y="1170432"/>
            <a:ext cx="3749040" cy="4160520"/>
          </a:xfrm>
          <a:prstGeom prst="roundRect">
            <a:avLst>
              <a:gd name="adj" fmla="val 3902"/>
            </a:avLst>
          </a:prstGeom>
          <a:solidFill>
            <a:srgbClr val="19162D"/>
          </a:solidFill>
          <a:ln w="12700">
            <a:solidFill>
              <a:srgbClr val="2E29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07808" y="15727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spc="150" kern="0" dirty="0">
                <a:solidFill>
                  <a:srgbClr val="B8AA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MINDNEST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607808" y="21488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F7F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7607808" y="32461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A7A2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Created by Sambhav Shahi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863840" y="3931920"/>
            <a:ext cx="2560320" cy="292608"/>
          </a:xfrm>
          <a:prstGeom prst="roundRect">
            <a:avLst>
              <a:gd name="adj" fmla="val 50000"/>
            </a:avLst>
          </a:prstGeom>
          <a:solidFill>
            <a:srgbClr val="35BB8B"/>
          </a:solidFill>
          <a:ln w="12700">
            <a:solidFill>
              <a:srgbClr val="35BB8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0" y="394106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8F7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END-TO-END ML PROJECT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543800" y="45720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DEA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 →  Model  →  API  →  Product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5D5970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transition spd="med">
    <p:fade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nrop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M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MindNest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MindNest AI</dc:title>
  <dc:subject>MindNest AI Project Presentation</dc:subject>
  <dc:creator>Sambhav Shahi</dc:creator>
  <cp:lastModifiedBy>Sambhav Shahi</cp:lastModifiedBy>
  <cp:revision>1</cp:revision>
  <dcterms:created xsi:type="dcterms:W3CDTF">2026-08-15T11:08:23Z</dcterms:created>
  <dcterms:modified xsi:type="dcterms:W3CDTF">2026-08-15T11:08:23Z</dcterms:modified>
</cp:coreProperties>
</file>